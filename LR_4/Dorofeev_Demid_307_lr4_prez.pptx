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18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7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0613-D1F4-4D93-B7B9-AC599EEA7842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44C1F-9115-4CAC-AA09-7AE0BD0875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6406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0613-D1F4-4D93-B7B9-AC599EEA7842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44C1F-9115-4CAC-AA09-7AE0BD0875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6965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0613-D1F4-4D93-B7B9-AC599EEA7842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44C1F-9115-4CAC-AA09-7AE0BD0875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6719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0613-D1F4-4D93-B7B9-AC599EEA7842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44C1F-9115-4CAC-AA09-7AE0BD0875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3782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0613-D1F4-4D93-B7B9-AC599EEA7842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44C1F-9115-4CAC-AA09-7AE0BD0875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11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0613-D1F4-4D93-B7B9-AC599EEA7842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44C1F-9115-4CAC-AA09-7AE0BD0875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9512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0613-D1F4-4D93-B7B9-AC599EEA7842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44C1F-9115-4CAC-AA09-7AE0BD0875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6514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0613-D1F4-4D93-B7B9-AC599EEA7842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44C1F-9115-4CAC-AA09-7AE0BD0875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0449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0613-D1F4-4D93-B7B9-AC599EEA7842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44C1F-9115-4CAC-AA09-7AE0BD0875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7565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0613-D1F4-4D93-B7B9-AC599EEA7842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44C1F-9115-4CAC-AA09-7AE0BD0875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7992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0613-D1F4-4D93-B7B9-AC599EEA7842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44C1F-9115-4CAC-AA09-7AE0BD0875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5708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0613-D1F4-4D93-B7B9-AC599EEA7842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44C1F-9115-4CAC-AA09-7AE0BD087514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endParaRPr lang="en-US" sz="800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6898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0613-D1F4-4D93-B7B9-AC599EEA7842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44C1F-9115-4CAC-AA09-7AE0BD0875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7897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0613-D1F4-4D93-B7B9-AC599EEA7842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44C1F-9115-4CAC-AA09-7AE0BD0875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15816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0613-D1F4-4D93-B7B9-AC599EEA7842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44C1F-9115-4CAC-AA09-7AE0BD0875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15642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0613-D1F4-4D93-B7B9-AC599EEA7842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44C1F-9115-4CAC-AA09-7AE0BD0875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53903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0613-D1F4-4D93-B7B9-AC599EEA7842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44C1F-9115-4CAC-AA09-7AE0BD0875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5147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CF00613-D1F4-4D93-B7B9-AC599EEA7842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0844C1F-9115-4CAC-AA09-7AE0BD0875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37266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D56FB9E-B0A3-4525-56FF-A1E92BDC31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colorTemperature colorTemp="6600"/>
                    </a14:imgEffect>
                    <a14:imgEffect>
                      <a14:saturation sat="64000"/>
                    </a14:imgEffect>
                    <a14:imgEffect>
                      <a14:brightnessContrast contrast="-5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460" y="0"/>
            <a:ext cx="12225460" cy="6839282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4AB8F8-6140-9B20-A715-A5C3C198E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2210" y="710213"/>
            <a:ext cx="9827580" cy="3755254"/>
          </a:xfrm>
        </p:spPr>
        <p:txBody>
          <a:bodyPr>
            <a:normAutofit/>
          </a:bodyPr>
          <a:lstStyle/>
          <a:p>
            <a:r>
              <a:rPr lang="ru-RU" dirty="0">
                <a:effectLst/>
              </a:rPr>
              <a:t> </a:t>
            </a:r>
            <a:r>
              <a:rPr lang="ru-RU" dirty="0" err="1">
                <a:effectLst/>
              </a:rPr>
              <a:t>Баессовские</a:t>
            </a:r>
            <a:r>
              <a:rPr lang="ru-RU" dirty="0">
                <a:effectLst/>
              </a:rPr>
              <a:t> сети на примере датасета </a:t>
            </a:r>
            <a:r>
              <a:rPr lang="en-US" dirty="0">
                <a:effectLst/>
              </a:rPr>
              <a:t>mushrooms.csv</a:t>
            </a:r>
            <a:br>
              <a:rPr lang="ru-RU" dirty="0">
                <a:effectLst/>
              </a:rPr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4D5F0E5-4FC3-90CB-3DF5-079E682D35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1273" y="3740382"/>
            <a:ext cx="9440034" cy="1049867"/>
          </a:xfrm>
        </p:spPr>
        <p:txBody>
          <a:bodyPr/>
          <a:lstStyle/>
          <a:p>
            <a:r>
              <a:rPr lang="ru-RU" dirty="0"/>
              <a:t>Дорофеев Демид Сергеевич</a:t>
            </a:r>
          </a:p>
        </p:txBody>
      </p:sp>
    </p:spTree>
    <p:extLst>
      <p:ext uri="{BB962C8B-B14F-4D97-AF65-F5344CB8AC3E}">
        <p14:creationId xmlns:p14="http://schemas.microsoft.com/office/powerpoint/2010/main" val="3489880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73FB4E-36A6-0129-ED63-DDBD8F1A0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270DA1-5193-2EBC-B5D3-F42EC4FF4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5029805" cy="4058751"/>
          </a:xfrm>
        </p:spPr>
        <p:txBody>
          <a:bodyPr/>
          <a:lstStyle/>
          <a:p>
            <a:r>
              <a:rPr lang="ru-RU" b="1" dirty="0">
                <a:effectLst/>
              </a:rPr>
              <a:t>Байесовская сеть</a:t>
            </a:r>
            <a:r>
              <a:rPr lang="ru-RU" dirty="0">
                <a:effectLst/>
              </a:rPr>
              <a:t> (также известна как сеть Байеса или сеть доверия) — </a:t>
            </a:r>
            <a:r>
              <a:rPr lang="ru-RU" b="1" dirty="0" err="1">
                <a:effectLst/>
              </a:rPr>
              <a:t>графовая</a:t>
            </a:r>
            <a:r>
              <a:rPr lang="ru-RU" b="1" dirty="0">
                <a:effectLst/>
              </a:rPr>
              <a:t> вероятностная модель</a:t>
            </a:r>
            <a:r>
              <a:rPr lang="ru-RU" dirty="0">
                <a:effectLst/>
              </a:rPr>
              <a:t>, которая представляет собой множество переменных и их вероятностные зависимости по Байесу. 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227FA2-9A30-7118-41B4-C5B8B63D8B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4000"/>
                    </a14:imgEffect>
                    <a14:imgEffect>
                      <a14:brightnessContrast bright="20000" contrast="3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334402" y="1738032"/>
            <a:ext cx="5875810" cy="338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883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AFDC8C-026D-B946-BEE2-23B79B559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Датасет </a:t>
            </a:r>
            <a:r>
              <a:rPr lang="en-US" dirty="0"/>
              <a:t>mushrooms.csv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DEFC69-F47F-B7D8-FF3D-9E7D97257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ru-RU" dirty="0"/>
              <a:t>Атрибуты:</a:t>
            </a:r>
          </a:p>
          <a:p>
            <a:r>
              <a:rPr lang="ru-RU" dirty="0">
                <a:effectLst/>
              </a:rPr>
              <a:t>ядовитость, форма шляпки, поверхность шляпки, цвет шляпки,</a:t>
            </a:r>
            <a:endParaRPr lang="en-US" dirty="0">
              <a:effectLst/>
            </a:endParaRPr>
          </a:p>
          <a:p>
            <a:r>
              <a:rPr lang="ru-RU" dirty="0">
                <a:effectLst/>
              </a:rPr>
              <a:t>синяки, запах, прикрепление жабр, расстояние между жабрами,</a:t>
            </a:r>
            <a:endParaRPr lang="en-US" dirty="0">
              <a:effectLst/>
            </a:endParaRPr>
          </a:p>
          <a:p>
            <a:r>
              <a:rPr lang="ru-RU" dirty="0">
                <a:effectLst/>
              </a:rPr>
              <a:t>размер жабр, цвет жабр, форма стебля,</a:t>
            </a:r>
            <a:r>
              <a:rPr lang="en-US" dirty="0">
                <a:effectLst/>
              </a:rPr>
              <a:t> </a:t>
            </a:r>
            <a:r>
              <a:rPr lang="ru-RU" dirty="0">
                <a:effectLst/>
              </a:rPr>
              <a:t>стебель-корень,</a:t>
            </a:r>
            <a:endParaRPr lang="en-US" dirty="0">
              <a:effectLst/>
            </a:endParaRPr>
          </a:p>
          <a:p>
            <a:r>
              <a:rPr lang="ru-RU" dirty="0">
                <a:effectLst/>
              </a:rPr>
              <a:t>поверхность стебля над кольцом, поверхность стебля под кольцом,</a:t>
            </a:r>
            <a:endParaRPr lang="en-US" dirty="0">
              <a:effectLst/>
            </a:endParaRPr>
          </a:p>
          <a:p>
            <a:r>
              <a:rPr lang="ru-RU" dirty="0">
                <a:effectLst/>
              </a:rPr>
              <a:t>цвет стебля над кольцом, цвет стебля под кольцом, тип завесы,</a:t>
            </a:r>
            <a:endParaRPr lang="en-US" dirty="0">
              <a:effectLst/>
            </a:endParaRPr>
          </a:p>
          <a:p>
            <a:r>
              <a:rPr lang="ru-RU" dirty="0">
                <a:effectLst/>
              </a:rPr>
              <a:t>цвет завесы, кольцо- количество, тип кольца, цвет отпечатка спор,</a:t>
            </a:r>
            <a:endParaRPr lang="en-US" dirty="0">
              <a:effectLst/>
            </a:endParaRPr>
          </a:p>
          <a:p>
            <a:r>
              <a:rPr lang="ru-RU" dirty="0">
                <a:effectLst/>
              </a:rPr>
              <a:t>популяция, среда обитания</a:t>
            </a:r>
            <a:endParaRPr lang="en-US" dirty="0">
              <a:effectLst/>
            </a:endParaRPr>
          </a:p>
          <a:p>
            <a:pPr marL="36900" indent="0">
              <a:buNone/>
            </a:pPr>
            <a:r>
              <a:rPr lang="ru-RU" dirty="0">
                <a:effectLst/>
              </a:rPr>
              <a:t>Всего 23 атрибутов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08110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AB93A5FD-B75A-8F08-D5FD-AA3E2830B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291" y="640496"/>
            <a:ext cx="5804831" cy="4058751"/>
          </a:xfrm>
        </p:spPr>
        <p:txBody>
          <a:bodyPr/>
          <a:lstStyle/>
          <a:p>
            <a:pPr marL="36900" indent="0">
              <a:buNone/>
            </a:pPr>
            <a:r>
              <a:rPr lang="ru-RU" b="1" dirty="0">
                <a:effectLst/>
              </a:rPr>
              <a:t>Загружаем датасет на прямую с </a:t>
            </a:r>
            <a:r>
              <a:rPr lang="ru-RU" b="1" dirty="0" err="1">
                <a:effectLst/>
              </a:rPr>
              <a:t>KuggleHub</a:t>
            </a:r>
            <a:endParaRPr lang="ru-RU" dirty="0">
              <a:effectLst/>
            </a:endParaRP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42BB5C6-4480-E19D-35AF-9E111B600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622" y="1741327"/>
            <a:ext cx="6030167" cy="37152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7191E8-64C0-8BAC-D394-5C936305BB33}"/>
              </a:ext>
            </a:extLst>
          </p:cNvPr>
          <p:cNvSpPr txBox="1"/>
          <p:nvPr/>
        </p:nvSpPr>
        <p:spPr>
          <a:xfrm>
            <a:off x="8376685" y="640496"/>
            <a:ext cx="17331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Label Encoding</a:t>
            </a:r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8128DDA-1886-CA1C-85D2-A55F45AAF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160" y="1755616"/>
            <a:ext cx="5144218" cy="368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05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B9CCE64-7126-CBD0-5860-A48A4494A3BC}"/>
              </a:ext>
            </a:extLst>
          </p:cNvPr>
          <p:cNvSpPr/>
          <p:nvPr/>
        </p:nvSpPr>
        <p:spPr>
          <a:xfrm>
            <a:off x="126774" y="1684645"/>
            <a:ext cx="11938452" cy="4629408"/>
          </a:xfrm>
          <a:prstGeom prst="rect">
            <a:avLst/>
          </a:prstGeom>
          <a:solidFill>
            <a:srgbClr val="18181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6CFAAF-7D8F-18EB-EA81-6EB446C60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</a:t>
            </a:r>
            <a:r>
              <a:rPr lang="ru-RU" dirty="0" err="1"/>
              <a:t>Баессовской</a:t>
            </a:r>
            <a:r>
              <a:rPr lang="ru-RU" dirty="0"/>
              <a:t> сети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F9B509B-0DCD-8777-BD68-229D54A31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74" y="1684645"/>
            <a:ext cx="3296110" cy="442974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67E59E-DDFD-9CAD-D93F-1A2659049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884" y="1684645"/>
            <a:ext cx="3362794" cy="88594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1060285-ECC2-EE47-F8A7-95A0B3EC12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2884" y="2570594"/>
            <a:ext cx="3943900" cy="1714739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E13AC03-D02A-8066-1082-0EFF2F4AAA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2884" y="4285139"/>
            <a:ext cx="4220164" cy="99073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D81D4B58-5A81-E550-3A6C-8E0DA78E36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2884" y="5275683"/>
            <a:ext cx="4801270" cy="103837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875C1C4-0BE1-7A96-A9B7-46B2BC860F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483" y="1684645"/>
            <a:ext cx="4429743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171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C22118-EFB5-2DF3-D7E3-3FE2E59A1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726708"/>
            <a:ext cx="10353762" cy="970450"/>
          </a:xfrm>
        </p:spPr>
        <p:txBody>
          <a:bodyPr/>
          <a:lstStyle/>
          <a:p>
            <a:r>
              <a:rPr lang="ru-RU" dirty="0"/>
              <a:t>Визуализация (модели с ручными графами)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14F1A5D-53B0-35F6-0368-D1CC74C71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8" y="2202483"/>
            <a:ext cx="5692574" cy="392880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C4D3C71-F28B-2C52-1421-7D9E4FC0E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9578" y="2202483"/>
            <a:ext cx="5692574" cy="3928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994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1F204-33AE-DF84-0276-048866C80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BA149B-8862-09D7-1CF1-C187D60F0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23" y="221383"/>
            <a:ext cx="11529554" cy="1466152"/>
          </a:xfrm>
        </p:spPr>
        <p:txBody>
          <a:bodyPr>
            <a:normAutofit/>
          </a:bodyPr>
          <a:lstStyle/>
          <a:p>
            <a:r>
              <a:rPr lang="ru-RU" dirty="0"/>
              <a:t>Визуализация</a:t>
            </a:r>
            <a:br>
              <a:rPr lang="ru-RU" dirty="0"/>
            </a:br>
            <a:r>
              <a:rPr lang="ru-RU" dirty="0"/>
              <a:t>(модели с автоматическими графами)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8D72C1-D59D-2110-B24B-36569233C4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9848" y="2202483"/>
            <a:ext cx="5692573" cy="392880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B349E69-F4BE-AC0F-4F6A-2BEBC455C2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69578" y="2202483"/>
            <a:ext cx="5692573" cy="3928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326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C7338B-C5FD-1E44-3A0D-B40004C5C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424" y="375384"/>
            <a:ext cx="7229178" cy="2040557"/>
          </a:xfrm>
        </p:spPr>
        <p:txBody>
          <a:bodyPr>
            <a:normAutofit/>
          </a:bodyPr>
          <a:lstStyle/>
          <a:p>
            <a:r>
              <a:rPr lang="ru-RU" dirty="0" err="1"/>
              <a:t>Инференс</a:t>
            </a:r>
            <a:br>
              <a:rPr lang="ru-RU" dirty="0"/>
            </a:br>
            <a:r>
              <a:rPr lang="ru-RU" dirty="0"/>
              <a:t>(разные значения одного параметра)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B9475F2-1677-ADB4-CDF1-D79A71065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925" y="2735033"/>
            <a:ext cx="5658640" cy="352474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F54D43A-CF13-ADF3-03DB-3679AE6BA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602" y="518706"/>
            <a:ext cx="2114845" cy="582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569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06EA7-A20F-76D6-5020-DD6011153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6B0428-AF04-E199-C3F8-4E1375A83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424" y="375384"/>
            <a:ext cx="7229178" cy="2040557"/>
          </a:xfrm>
        </p:spPr>
        <p:txBody>
          <a:bodyPr>
            <a:normAutofit/>
          </a:bodyPr>
          <a:lstStyle/>
          <a:p>
            <a:r>
              <a:rPr lang="ru-RU" dirty="0" err="1"/>
              <a:t>Инференс</a:t>
            </a:r>
            <a:br>
              <a:rPr lang="ru-RU" dirty="0"/>
            </a:br>
            <a:r>
              <a:rPr lang="ru-RU" dirty="0"/>
              <a:t>(один параметр в разных моделях)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DE173CF-B0FA-D354-120E-EE9F3DBB0A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8926" y="2506927"/>
            <a:ext cx="5658639" cy="398095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87931EB-406C-5DBF-028E-B344AE2D70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06602" y="518706"/>
            <a:ext cx="2074664" cy="582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954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08A998-CBE5-66F5-2C72-7A11EE69B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результатов с </a:t>
            </a:r>
            <a:r>
              <a:rPr lang="en-US" dirty="0"/>
              <a:t>baseline </a:t>
            </a:r>
            <a:r>
              <a:rPr lang="ru-RU" dirty="0"/>
              <a:t>моделью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065B115-5B53-88E8-26A3-CFD34515C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81" y="1580050"/>
            <a:ext cx="7259063" cy="489653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D7F5947-0800-8A23-97FF-381EEBB6C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676" y="2455366"/>
            <a:ext cx="4415318" cy="194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124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AAB263E-14E8-AFC4-3D7E-ED9BA55F2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837"/>
            <a:ext cx="6487430" cy="66303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E2F122-E880-A87F-C996-1C3D7922D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49" y="113837"/>
            <a:ext cx="10353762" cy="970450"/>
          </a:xfrm>
        </p:spPr>
        <p:txBody>
          <a:bodyPr/>
          <a:lstStyle/>
          <a:p>
            <a:r>
              <a:rPr lang="ru-RU" dirty="0"/>
              <a:t>Калькулятор </a:t>
            </a:r>
            <a:r>
              <a:rPr lang="en-US" dirty="0" err="1"/>
              <a:t>Limme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98E59FB-9537-A0B8-901F-B7EBFA01C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499" y="1084287"/>
            <a:ext cx="3419952" cy="532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740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28631E8-E478-04CE-BEA4-7BD7F6CDB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7" y="619125"/>
            <a:ext cx="94202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3422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ланец">
  <a:themeElements>
    <a:clrScheme name="Сланец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Сланец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анец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Сланец</Template>
  <TotalTime>88</TotalTime>
  <Words>175</Words>
  <Application>Microsoft Office PowerPoint</Application>
  <PresentationFormat>Широкоэкранный</PresentationFormat>
  <Paragraphs>23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Calisto MT</vt:lpstr>
      <vt:lpstr>Wingdings 2</vt:lpstr>
      <vt:lpstr>Сланец</vt:lpstr>
      <vt:lpstr> Баессовские сети на примере датасета mushrooms.csv </vt:lpstr>
      <vt:lpstr>Введение</vt:lpstr>
      <vt:lpstr>Датасет mushrooms.csv</vt:lpstr>
      <vt:lpstr>Презентация PowerPoint</vt:lpstr>
      <vt:lpstr>Построение Баессовской сети</vt:lpstr>
      <vt:lpstr>Визуализация (модели с ручными графами)</vt:lpstr>
      <vt:lpstr>Визуализация (модели с автоматическими графами)</vt:lpstr>
      <vt:lpstr>Инференс (разные значения одного параметра)</vt:lpstr>
      <vt:lpstr>Инференс (один параметр в разных моделях)</vt:lpstr>
      <vt:lpstr>Сравнение результатов с baseline моделью</vt:lpstr>
      <vt:lpstr>Калькулятор Limme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 J</dc:creator>
  <cp:lastModifiedBy>D J</cp:lastModifiedBy>
  <cp:revision>2</cp:revision>
  <dcterms:created xsi:type="dcterms:W3CDTF">2025-11-30T14:52:31Z</dcterms:created>
  <dcterms:modified xsi:type="dcterms:W3CDTF">2025-11-30T17:11:04Z</dcterms:modified>
</cp:coreProperties>
</file>