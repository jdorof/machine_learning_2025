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6" r:id="rId9"/>
    <p:sldId id="268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58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342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57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038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173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91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19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17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715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827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1785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3266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773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739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3705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45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243D11E-24D1-49D6-A664-61D6D58953D8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A51376F-6C70-44FB-837C-EC51F9B37A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2335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637DB-8D05-92AC-DD54-B4C0A7A9F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Фондовый рынок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A3CC190-08A2-32BD-D82F-B3797044BF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Дорофеев Демид Сергеевич</a:t>
            </a:r>
          </a:p>
        </p:txBody>
      </p:sp>
    </p:spTree>
    <p:extLst>
      <p:ext uri="{BB962C8B-B14F-4D97-AF65-F5344CB8AC3E}">
        <p14:creationId xmlns:p14="http://schemas.microsoft.com/office/powerpoint/2010/main" val="702424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D19B4-F983-87FC-4DC1-80344AD3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 регрессии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051E0F-4F78-2EEF-D3CC-982A981DA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Определить «завтрашнюю» цену закрытия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998568-FF49-3DEA-D8B4-EF6B23D0E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3" y="3004481"/>
            <a:ext cx="8764223" cy="1514686"/>
          </a:xfrm>
          <a:prstGeom prst="rect">
            <a:avLst/>
          </a:prstGeom>
        </p:spPr>
      </p:pic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9968DEAF-EA1C-1A08-2EC5-D4D3FA45D299}"/>
              </a:ext>
            </a:extLst>
          </p:cNvPr>
          <p:cNvCxnSpPr/>
          <p:nvPr/>
        </p:nvCxnSpPr>
        <p:spPr>
          <a:xfrm>
            <a:off x="8185211" y="2166151"/>
            <a:ext cx="0" cy="73179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  <a:effectLst>
            <a:glow rad="63500">
              <a:schemeClr val="tx2"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9752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F8A97-D5B2-F977-FB5F-9C62BFDDA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0" y="334392"/>
            <a:ext cx="6303552" cy="970450"/>
          </a:xfrm>
        </p:spPr>
        <p:txBody>
          <a:bodyPr>
            <a:normAutofit fontScale="90000"/>
          </a:bodyPr>
          <a:lstStyle/>
          <a:p>
            <a:r>
              <a:rPr lang="ru-RU" dirty="0"/>
              <a:t>Обучение тестовой</a:t>
            </a:r>
            <a:br>
              <a:rPr lang="ru-RU" dirty="0"/>
            </a:br>
            <a:r>
              <a:rPr lang="ru-RU" dirty="0"/>
              <a:t>модели</a:t>
            </a:r>
            <a:r>
              <a:rPr lang="en-US" dirty="0"/>
              <a:t> </a:t>
            </a:r>
            <a:r>
              <a:rPr lang="en-US" dirty="0" err="1"/>
              <a:t>RandomForest</a:t>
            </a:r>
            <a:r>
              <a:rPr lang="en-US" dirty="0"/>
              <a:t> (Tesla) 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1D90AFC-1FD9-F471-19EA-AD89415D4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3729226" cy="684904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F49181-DCBD-7867-F78C-3086BE75D322}"/>
              </a:ext>
            </a:extLst>
          </p:cNvPr>
          <p:cNvSpPr txBox="1"/>
          <p:nvPr/>
        </p:nvSpPr>
        <p:spPr>
          <a:xfrm>
            <a:off x="3861788" y="5323279"/>
            <a:ext cx="54242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ru-RU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2071.3139221857964</a:t>
            </a:r>
            <a:endParaRPr lang="ru-RU" b="0" i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RMSE: 45.5116899508884</a:t>
            </a:r>
            <a:endParaRPr lang="ru-RU" b="0" i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MAE</a:t>
            </a:r>
            <a:r>
              <a:rPr lang="ru-RU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38.18883340675601</a:t>
            </a:r>
          </a:p>
          <a:p>
            <a:r>
              <a:rPr lang="en-US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 </a:t>
            </a:r>
            <a:r>
              <a:rPr lang="en-US" b="0" i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-1.100309895711808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6D7E9FA-CA1A-BDB0-8A6C-666C349A6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788" y="1597964"/>
            <a:ext cx="8330212" cy="365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39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09EEAE-8450-48C0-22AB-3721F2182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38125"/>
            <a:ext cx="10353762" cy="970450"/>
          </a:xfrm>
        </p:spPr>
        <p:txBody>
          <a:bodyPr/>
          <a:lstStyle/>
          <a:p>
            <a:r>
              <a:rPr lang="ru-RU" dirty="0"/>
              <a:t>Забавное наблюдение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8E144D-676E-8CF0-84EC-B84AD6981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24" y="1511342"/>
            <a:ext cx="12192000" cy="5346658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F8C5687-B934-A4A0-D617-5F2036290CD2}"/>
              </a:ext>
            </a:extLst>
          </p:cNvPr>
          <p:cNvCxnSpPr/>
          <p:nvPr/>
        </p:nvCxnSpPr>
        <p:spPr>
          <a:xfrm>
            <a:off x="2743200" y="4815840"/>
            <a:ext cx="320040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6E53DAF6-924F-C254-CFB8-43BFE4FB585E}"/>
              </a:ext>
            </a:extLst>
          </p:cNvPr>
          <p:cNvCxnSpPr/>
          <p:nvPr/>
        </p:nvCxnSpPr>
        <p:spPr>
          <a:xfrm>
            <a:off x="4076700" y="4815840"/>
            <a:ext cx="320040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F7094022-652F-66C9-C807-01215CCB481F}"/>
              </a:ext>
            </a:extLst>
          </p:cNvPr>
          <p:cNvCxnSpPr/>
          <p:nvPr/>
        </p:nvCxnSpPr>
        <p:spPr>
          <a:xfrm>
            <a:off x="6751320" y="4892040"/>
            <a:ext cx="320040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E6794ED-DC48-7DEB-1426-B51B2E7E70EA}"/>
              </a:ext>
            </a:extLst>
          </p:cNvPr>
          <p:cNvCxnSpPr/>
          <p:nvPr/>
        </p:nvCxnSpPr>
        <p:spPr>
          <a:xfrm>
            <a:off x="4831080" y="4815840"/>
            <a:ext cx="320040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DAACBD9-4344-FAA0-BA82-1510BBF6D0F3}"/>
              </a:ext>
            </a:extLst>
          </p:cNvPr>
          <p:cNvCxnSpPr/>
          <p:nvPr/>
        </p:nvCxnSpPr>
        <p:spPr>
          <a:xfrm>
            <a:off x="9654540" y="4815840"/>
            <a:ext cx="320040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8274ECBB-387D-FCF4-CC2D-95ACCDE479DC}"/>
              </a:ext>
            </a:extLst>
          </p:cNvPr>
          <p:cNvCxnSpPr/>
          <p:nvPr/>
        </p:nvCxnSpPr>
        <p:spPr>
          <a:xfrm>
            <a:off x="2827020" y="3017520"/>
            <a:ext cx="76200" cy="411480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1132EE2A-A072-45AE-1903-1AEAFCD5C4EA}"/>
              </a:ext>
            </a:extLst>
          </p:cNvPr>
          <p:cNvCxnSpPr/>
          <p:nvPr/>
        </p:nvCxnSpPr>
        <p:spPr>
          <a:xfrm>
            <a:off x="4236720" y="2811780"/>
            <a:ext cx="76200" cy="411480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32237DC5-F8E1-8751-95C9-75782EB862A5}"/>
              </a:ext>
            </a:extLst>
          </p:cNvPr>
          <p:cNvCxnSpPr/>
          <p:nvPr/>
        </p:nvCxnSpPr>
        <p:spPr>
          <a:xfrm>
            <a:off x="4960620" y="3773191"/>
            <a:ext cx="76200" cy="411480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D23A5A49-84C7-137F-EF30-B6AEBA981465}"/>
              </a:ext>
            </a:extLst>
          </p:cNvPr>
          <p:cNvCxnSpPr/>
          <p:nvPr/>
        </p:nvCxnSpPr>
        <p:spPr>
          <a:xfrm>
            <a:off x="6911340" y="2659380"/>
            <a:ext cx="76200" cy="411480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22428F61-CB4A-3FD1-C26D-CB0781CE0DD0}"/>
              </a:ext>
            </a:extLst>
          </p:cNvPr>
          <p:cNvCxnSpPr/>
          <p:nvPr/>
        </p:nvCxnSpPr>
        <p:spPr>
          <a:xfrm>
            <a:off x="9860280" y="3361711"/>
            <a:ext cx="76200" cy="411480"/>
          </a:xfrm>
          <a:prstGeom prst="straightConnector1">
            <a:avLst/>
          </a:prstGeom>
          <a:ln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248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137BB4-38CC-D1FD-3B39-7668EBB6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62" y="433349"/>
            <a:ext cx="5513638" cy="1680839"/>
          </a:xfrm>
        </p:spPr>
        <p:txBody>
          <a:bodyPr>
            <a:normAutofit fontScale="90000"/>
          </a:bodyPr>
          <a:lstStyle/>
          <a:p>
            <a:r>
              <a:rPr lang="ru-RU" dirty="0"/>
              <a:t>Сравнение с добавлением признаков</a:t>
            </a:r>
            <a:br>
              <a:rPr lang="ru-RU" dirty="0"/>
            </a:br>
            <a:r>
              <a:rPr lang="ru-RU" dirty="0"/>
              <a:t>«прошлых» дней</a:t>
            </a:r>
            <a:r>
              <a:rPr lang="en-US" dirty="0"/>
              <a:t> (Tesla)</a:t>
            </a:r>
            <a:br>
              <a:rPr lang="en-US" dirty="0"/>
            </a:br>
            <a:r>
              <a:rPr lang="ru-RU" dirty="0"/>
              <a:t>Тестовая модель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211D05-3F0E-5601-2BDD-CFE720AA7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28" y="2469295"/>
            <a:ext cx="6451616" cy="420607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AC0AA2F-AD24-EA66-886F-5F9328842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2976" y="0"/>
            <a:ext cx="5573948" cy="6858000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FC8D2EF-E76C-06D4-79C1-0DB5F02DC099}"/>
              </a:ext>
            </a:extLst>
          </p:cNvPr>
          <p:cNvCxnSpPr/>
          <p:nvPr/>
        </p:nvCxnSpPr>
        <p:spPr>
          <a:xfrm>
            <a:off x="6753225" y="571500"/>
            <a:ext cx="752475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2CE334CB-1C4B-CBD1-B7FF-C57BD99F6415}"/>
              </a:ext>
            </a:extLst>
          </p:cNvPr>
          <p:cNvCxnSpPr/>
          <p:nvPr/>
        </p:nvCxnSpPr>
        <p:spPr>
          <a:xfrm>
            <a:off x="933450" y="3228975"/>
            <a:ext cx="752475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B9DA227-C6FE-D312-BDC6-6F9E2914071E}"/>
              </a:ext>
            </a:extLst>
          </p:cNvPr>
          <p:cNvSpPr txBox="1"/>
          <p:nvPr/>
        </p:nvSpPr>
        <p:spPr>
          <a:xfrm>
            <a:off x="8810625" y="5829300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2060"/>
                </a:solidFill>
              </a:rPr>
              <a:t>lag_i</a:t>
            </a:r>
            <a:r>
              <a:rPr lang="ru-RU" dirty="0">
                <a:solidFill>
                  <a:srgbClr val="002060"/>
                </a:solidFill>
              </a:rPr>
              <a:t> = </a:t>
            </a:r>
            <a:r>
              <a:rPr lang="en-US" dirty="0" err="1">
                <a:solidFill>
                  <a:srgbClr val="002060"/>
                </a:solidFill>
              </a:rPr>
              <a:t>i</a:t>
            </a:r>
            <a:r>
              <a:rPr lang="ru-RU" dirty="0">
                <a:solidFill>
                  <a:srgbClr val="002060"/>
                </a:solidFill>
              </a:rPr>
              <a:t> дней назад</a:t>
            </a:r>
          </a:p>
        </p:txBody>
      </p:sp>
    </p:spTree>
    <p:extLst>
      <p:ext uri="{BB962C8B-B14F-4D97-AF65-F5344CB8AC3E}">
        <p14:creationId xmlns:p14="http://schemas.microsoft.com/office/powerpoint/2010/main" val="231692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B151FB-427A-6EFD-E4B8-44063B71F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2057" y="198424"/>
            <a:ext cx="4867880" cy="1630375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Подбор </a:t>
            </a:r>
            <a:r>
              <a:rPr lang="ru-RU" dirty="0" err="1"/>
              <a:t>гиперпараметров</a:t>
            </a:r>
            <a:br>
              <a:rPr lang="en-US" dirty="0"/>
            </a:br>
            <a:r>
              <a:rPr lang="en-US" dirty="0"/>
              <a:t>(Tesla)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D982E3E-E2C2-9289-9CFF-B8D1171D3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825" y="40163"/>
            <a:ext cx="7496175" cy="225742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F38FAAB-2C3C-CB65-A268-8C1D28D8D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825" y="2297587"/>
            <a:ext cx="7496175" cy="22574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8A56F0F-416A-A576-E85E-DC2831A3A310}"/>
              </a:ext>
            </a:extLst>
          </p:cNvPr>
          <p:cNvSpPr txBox="1"/>
          <p:nvPr/>
        </p:nvSpPr>
        <p:spPr>
          <a:xfrm>
            <a:off x="2940214" y="1636400"/>
            <a:ext cx="175560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Grid Search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br>
              <a:rPr lang="en-US" dirty="0"/>
            </a:br>
            <a:br>
              <a:rPr lang="en-US" dirty="0"/>
            </a:br>
            <a:r>
              <a:rPr lang="en-US" dirty="0"/>
              <a:t>Random Search</a:t>
            </a:r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br>
              <a:rPr lang="en-US" dirty="0"/>
            </a:br>
            <a:br>
              <a:rPr lang="en-US" dirty="0"/>
            </a:br>
            <a:r>
              <a:rPr lang="en-US" dirty="0" err="1"/>
              <a:t>Optuna</a:t>
            </a:r>
            <a:endParaRPr lang="ru-RU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15D1958-DAAA-D8E1-125F-B54793B5E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824" y="4555011"/>
            <a:ext cx="7496176" cy="225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250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028D13-8D90-B8E6-AE73-8A8AC3B82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4109" y="4254150"/>
            <a:ext cx="2543780" cy="1384650"/>
          </a:xfrm>
        </p:spPr>
        <p:txBody>
          <a:bodyPr>
            <a:normAutofit/>
          </a:bodyPr>
          <a:lstStyle/>
          <a:p>
            <a:r>
              <a:rPr lang="en-US" dirty="0"/>
              <a:t>TPOT</a:t>
            </a:r>
            <a:br>
              <a:rPr lang="en-US" dirty="0"/>
            </a:br>
            <a:r>
              <a:rPr lang="en-US" dirty="0"/>
              <a:t>(Tesla)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DB1992-9A9E-C6CF-2E7C-E7CD9C710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49" y="409575"/>
            <a:ext cx="11539301" cy="355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0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6F6B0-1642-390E-9F38-46BA133C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FBD46-83EB-62BD-41B7-9BDD474D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62" y="433349"/>
            <a:ext cx="5513638" cy="1680839"/>
          </a:xfrm>
        </p:spPr>
        <p:txBody>
          <a:bodyPr>
            <a:normAutofit fontScale="90000"/>
          </a:bodyPr>
          <a:lstStyle/>
          <a:p>
            <a:r>
              <a:rPr lang="ru-RU" dirty="0"/>
              <a:t>Сравнение с добавлением признаков</a:t>
            </a:r>
            <a:br>
              <a:rPr lang="ru-RU" dirty="0"/>
            </a:br>
            <a:r>
              <a:rPr lang="ru-RU" dirty="0"/>
              <a:t>«прошлых» дней</a:t>
            </a:r>
            <a:r>
              <a:rPr lang="en-US" dirty="0"/>
              <a:t> (Tesla)</a:t>
            </a:r>
            <a:br>
              <a:rPr lang="en-US" dirty="0"/>
            </a:br>
            <a:r>
              <a:rPr lang="en-US" dirty="0"/>
              <a:t>TPOT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7EB020-AF60-F623-F184-F81E59A51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373" y="2591749"/>
            <a:ext cx="6451616" cy="354206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7844D8C-816D-D804-CCE6-89D9DADF0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2976" y="31133"/>
            <a:ext cx="5573948" cy="6795734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9F115A2D-EFC9-19BF-04FD-2A7EDB0A6D2E}"/>
              </a:ext>
            </a:extLst>
          </p:cNvPr>
          <p:cNvCxnSpPr/>
          <p:nvPr/>
        </p:nvCxnSpPr>
        <p:spPr>
          <a:xfrm>
            <a:off x="7077075" y="1476375"/>
            <a:ext cx="752475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2FD8166-47FB-7908-07E8-6FEE0C9A3AF8}"/>
              </a:ext>
            </a:extLst>
          </p:cNvPr>
          <p:cNvCxnSpPr/>
          <p:nvPr/>
        </p:nvCxnSpPr>
        <p:spPr>
          <a:xfrm>
            <a:off x="933450" y="3228975"/>
            <a:ext cx="752475" cy="0"/>
          </a:xfrm>
          <a:prstGeom prst="lin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AFC24E-CA4D-C76D-8514-DB3D700D6B68}"/>
              </a:ext>
            </a:extLst>
          </p:cNvPr>
          <p:cNvSpPr txBox="1"/>
          <p:nvPr/>
        </p:nvSpPr>
        <p:spPr>
          <a:xfrm>
            <a:off x="9277350" y="5764480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2060"/>
                </a:solidFill>
              </a:rPr>
              <a:t>lag_i</a:t>
            </a:r>
            <a:r>
              <a:rPr lang="ru-RU" dirty="0">
                <a:solidFill>
                  <a:srgbClr val="002060"/>
                </a:solidFill>
              </a:rPr>
              <a:t> = </a:t>
            </a:r>
            <a:r>
              <a:rPr lang="en-US" dirty="0" err="1">
                <a:solidFill>
                  <a:srgbClr val="002060"/>
                </a:solidFill>
              </a:rPr>
              <a:t>i</a:t>
            </a:r>
            <a:r>
              <a:rPr lang="ru-RU" dirty="0">
                <a:solidFill>
                  <a:srgbClr val="002060"/>
                </a:solidFill>
              </a:rPr>
              <a:t> дней назад</a:t>
            </a:r>
          </a:p>
        </p:txBody>
      </p:sp>
    </p:spTree>
    <p:extLst>
      <p:ext uri="{BB962C8B-B14F-4D97-AF65-F5344CB8AC3E}">
        <p14:creationId xmlns:p14="http://schemas.microsoft.com/office/powerpoint/2010/main" val="937142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06EFBF1-008C-C825-E976-A68500ED8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770" y="1856823"/>
            <a:ext cx="3029555" cy="648801"/>
          </a:xfrm>
        </p:spPr>
        <p:txBody>
          <a:bodyPr/>
          <a:lstStyle/>
          <a:p>
            <a:pPr marL="36900" indent="0">
              <a:buNone/>
            </a:pPr>
            <a:r>
              <a:rPr lang="ru-RU" dirty="0"/>
              <a:t>Без добавления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A9C2CFD-ECEB-6307-4B08-5AA91CA407D8}"/>
              </a:ext>
            </a:extLst>
          </p:cNvPr>
          <p:cNvSpPr txBox="1">
            <a:spLocks/>
          </p:cNvSpPr>
          <p:nvPr/>
        </p:nvSpPr>
        <p:spPr>
          <a:xfrm>
            <a:off x="811567" y="51610"/>
            <a:ext cx="10466638" cy="16808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/>
              <a:t>Сравнение точности с добавлением</a:t>
            </a:r>
          </a:p>
          <a:p>
            <a:r>
              <a:rPr lang="ru-RU" dirty="0"/>
              <a:t>признаков «прошлых» дней</a:t>
            </a:r>
            <a:r>
              <a:rPr lang="en-US" dirty="0"/>
              <a:t> (Tesla)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F335B89-A694-CB60-68C3-A97837E55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407" y="1881145"/>
            <a:ext cx="7773485" cy="600159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2A5750BF-397A-4328-9F1F-6796EABCF0E3}"/>
              </a:ext>
            </a:extLst>
          </p:cNvPr>
          <p:cNvSpPr txBox="1">
            <a:spLocks/>
          </p:cNvSpPr>
          <p:nvPr/>
        </p:nvSpPr>
        <p:spPr>
          <a:xfrm>
            <a:off x="713769" y="4476751"/>
            <a:ext cx="3029555" cy="64880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ru-RU" dirty="0"/>
              <a:t>Добавление 7 дней в «прошлое»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3B0EB8-24AA-6534-E156-40E5D988A545}"/>
              </a:ext>
            </a:extLst>
          </p:cNvPr>
          <p:cNvSpPr txBox="1"/>
          <p:nvPr/>
        </p:nvSpPr>
        <p:spPr>
          <a:xfrm>
            <a:off x="4381500" y="26300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TPOT:</a:t>
            </a:r>
          </a:p>
          <a:p>
            <a:r>
              <a:rPr lang="en-US" dirty="0"/>
              <a:t>Best </a:t>
            </a:r>
            <a:r>
              <a:rPr lang="en-US" dirty="0" err="1"/>
              <a:t>mean_squared_error</a:t>
            </a:r>
            <a:r>
              <a:rPr lang="en-US" dirty="0"/>
              <a:t> score: -6.675418621372634</a:t>
            </a:r>
          </a:p>
          <a:p>
            <a:r>
              <a:rPr lang="ru-RU" dirty="0"/>
              <a:t>R2 на тестовой выборке: 0.9668</a:t>
            </a:r>
            <a:endParaRPr lang="en-US" dirty="0"/>
          </a:p>
          <a:p>
            <a:r>
              <a:rPr lang="ru-RU" dirty="0"/>
              <a:t>RMSE на тестовой выборке: 5.7238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E90072-593D-4344-CA24-9C14B951B289}"/>
              </a:ext>
            </a:extLst>
          </p:cNvPr>
          <p:cNvSpPr txBox="1"/>
          <p:nvPr/>
        </p:nvSpPr>
        <p:spPr>
          <a:xfrm>
            <a:off x="4381500" y="5425559"/>
            <a:ext cx="716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TPOT:</a:t>
            </a:r>
          </a:p>
          <a:p>
            <a:r>
              <a:rPr lang="en-US" dirty="0"/>
              <a:t>Best </a:t>
            </a:r>
            <a:r>
              <a:rPr lang="en-US" dirty="0" err="1"/>
              <a:t>mean_squared_error</a:t>
            </a:r>
            <a:r>
              <a:rPr lang="en-US" dirty="0"/>
              <a:t> score: -6.6040749117099065</a:t>
            </a:r>
          </a:p>
          <a:p>
            <a:r>
              <a:rPr lang="ru-RU" dirty="0"/>
              <a:t>R2 на тестовой выборке: 0.9604</a:t>
            </a:r>
            <a:endParaRPr lang="en-US" dirty="0"/>
          </a:p>
          <a:p>
            <a:r>
              <a:rPr lang="ru-RU" dirty="0"/>
              <a:t>RMSE на тестовой выборке: 6.2112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5BD4ACE-9F79-3A21-C117-7BE2DEFAC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354" y="4476751"/>
            <a:ext cx="7811590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02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90A99-67ED-C93B-DCA6-5F23A7911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FE0AC-3F78-77C2-3EB2-5FC9B42F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930" y="1131574"/>
            <a:ext cx="2543780" cy="1384650"/>
          </a:xfrm>
        </p:spPr>
        <p:txBody>
          <a:bodyPr>
            <a:normAutofit/>
          </a:bodyPr>
          <a:lstStyle/>
          <a:p>
            <a:r>
              <a:rPr lang="en-US" dirty="0" err="1"/>
              <a:t>Optuna</a:t>
            </a:r>
            <a:br>
              <a:rPr lang="en-US" dirty="0"/>
            </a:br>
            <a:r>
              <a:rPr lang="en-US" dirty="0"/>
              <a:t>(Apple)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5B9460-9BF1-220F-1BA7-DE48C078FE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352" y="3208549"/>
            <a:ext cx="11539298" cy="355667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8A3EEC-CFA9-4E1D-E820-3010F6792E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1507" y="0"/>
            <a:ext cx="5844142" cy="320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557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F4CA-24CD-C68A-77C0-C0223AF2A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84D2F9-C927-6131-DA34-5F35DC20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8945" y="1129950"/>
            <a:ext cx="2543780" cy="1384650"/>
          </a:xfrm>
        </p:spPr>
        <p:txBody>
          <a:bodyPr>
            <a:normAutofit/>
          </a:bodyPr>
          <a:lstStyle/>
          <a:p>
            <a:r>
              <a:rPr lang="en-US" dirty="0"/>
              <a:t>TPOT</a:t>
            </a:r>
            <a:br>
              <a:rPr lang="en-US" dirty="0"/>
            </a:br>
            <a:r>
              <a:rPr lang="en-US" dirty="0"/>
              <a:t>(Apple)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DC3980-1032-44F4-4E34-49F0D034BF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349" y="3219450"/>
            <a:ext cx="11539302" cy="355667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9001D29-2A47-7CBF-A913-534E088A38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349" y="10901"/>
            <a:ext cx="5844142" cy="320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174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Сланец</Template>
  <TotalTime>42</TotalTime>
  <Words>178</Words>
  <Application>Microsoft Office PowerPoint</Application>
  <PresentationFormat>Широкоэкранный</PresentationFormat>
  <Paragraphs>42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Calisto MT</vt:lpstr>
      <vt:lpstr>Consolas</vt:lpstr>
      <vt:lpstr>Wingdings 2</vt:lpstr>
      <vt:lpstr>Сланец</vt:lpstr>
      <vt:lpstr>Фондовый рынок</vt:lpstr>
      <vt:lpstr>Задача регрессии</vt:lpstr>
      <vt:lpstr>Обучение тестовой модели RandomForest (Tesla) </vt:lpstr>
      <vt:lpstr>Забавное наблюдение</vt:lpstr>
      <vt:lpstr>Сравнение с добавлением признаков «прошлых» дней (Tesla) Тестовая модель</vt:lpstr>
      <vt:lpstr>Подбор гиперпараметров (Tesla)</vt:lpstr>
      <vt:lpstr>TPOT (Tesla)</vt:lpstr>
      <vt:lpstr>Сравнение с добавлением признаков «прошлых» дней (Tesla) TPOT</vt:lpstr>
      <vt:lpstr>Презентация PowerPoint</vt:lpstr>
      <vt:lpstr>Optuna (Apple)</vt:lpstr>
      <vt:lpstr>TPOT (Apple)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 J</dc:creator>
  <cp:lastModifiedBy>D J</cp:lastModifiedBy>
  <cp:revision>1</cp:revision>
  <dcterms:created xsi:type="dcterms:W3CDTF">2025-11-22T16:55:56Z</dcterms:created>
  <dcterms:modified xsi:type="dcterms:W3CDTF">2025-11-22T17:38:53Z</dcterms:modified>
</cp:coreProperties>
</file>