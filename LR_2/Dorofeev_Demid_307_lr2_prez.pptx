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5" r:id="rId5"/>
    <p:sldId id="266" r:id="rId6"/>
    <p:sldId id="268" r:id="rId7"/>
    <p:sldId id="259" r:id="rId8"/>
    <p:sldId id="260" r:id="rId9"/>
    <p:sldId id="261" r:id="rId10"/>
    <p:sldId id="263" r:id="rId11"/>
    <p:sldId id="264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48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68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06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884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96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24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56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902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21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7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653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1569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141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467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8234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88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67372A4-208F-4C38-9393-9372C0790D4D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5AD9716-C545-4D4F-A68B-8AAE7AE51C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907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188B0-3136-F011-D0BC-C7E61CF2E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Decision Tree Classifier</a:t>
            </a:r>
            <a:br>
              <a:rPr lang="en-US" dirty="0">
                <a:effectLst/>
              </a:rPr>
            </a:br>
            <a:r>
              <a:rPr lang="en-US" dirty="0">
                <a:effectLst/>
              </a:rPr>
              <a:t>(</a:t>
            </a:r>
            <a:r>
              <a:rPr lang="ru-RU" dirty="0">
                <a:effectLst/>
              </a:rPr>
              <a:t>Дерево решений)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E4D5231-01DB-FE60-0E30-6BA1CB61C0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Дорофеев Демид, Клюкин Павел</a:t>
            </a:r>
            <a:br>
              <a:rPr lang="ru-RU" dirty="0"/>
            </a:br>
            <a:r>
              <a:rPr lang="ru-RU" dirty="0"/>
              <a:t>М8О-307Б-23</a:t>
            </a:r>
          </a:p>
        </p:txBody>
      </p:sp>
    </p:spTree>
    <p:extLst>
      <p:ext uri="{BB962C8B-B14F-4D97-AF65-F5344CB8AC3E}">
        <p14:creationId xmlns:p14="http://schemas.microsoft.com/office/powerpoint/2010/main" val="771466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42314-AD04-2E21-7C84-E45FB2065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00577"/>
            <a:ext cx="10353762" cy="970450"/>
          </a:xfrm>
        </p:spPr>
        <p:txBody>
          <a:bodyPr/>
          <a:lstStyle/>
          <a:p>
            <a:r>
              <a:rPr lang="ru-RU" dirty="0">
                <a:effectLst/>
              </a:rPr>
              <a:t>Дерево решений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6A85D9-E032-BECC-D040-CC4BC0063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683" y="1765917"/>
            <a:ext cx="6454671" cy="4058751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ru-RU" dirty="0">
                <a:effectLst/>
              </a:rPr>
              <a:t>Преимущества:</a:t>
            </a:r>
          </a:p>
          <a:p>
            <a:r>
              <a:rPr lang="ru-RU" dirty="0">
                <a:effectLst/>
              </a:rPr>
              <a:t>Простая интерпретация (можно визуализировать дерево).</a:t>
            </a:r>
          </a:p>
          <a:p>
            <a:r>
              <a:rPr lang="ru-RU" dirty="0">
                <a:effectLst/>
              </a:rPr>
              <a:t>Не требует масштабирования данных.</a:t>
            </a:r>
          </a:p>
          <a:p>
            <a:pPr marL="36900" indent="0">
              <a:buNone/>
            </a:pPr>
            <a:r>
              <a:rPr lang="ru-RU" dirty="0">
                <a:effectLst/>
              </a:rPr>
              <a:t>Недостатки:</a:t>
            </a:r>
          </a:p>
          <a:p>
            <a:r>
              <a:rPr lang="ru-RU" dirty="0">
                <a:effectLst/>
              </a:rPr>
              <a:t>Склонно к </a:t>
            </a:r>
            <a:r>
              <a:rPr lang="ru-RU" b="1" dirty="0">
                <a:effectLst/>
              </a:rPr>
              <a:t>переобучению</a:t>
            </a:r>
            <a:r>
              <a:rPr lang="ru-RU" dirty="0">
                <a:effectLst/>
              </a:rPr>
              <a:t>, особенно при большой глубине дерева.</a:t>
            </a:r>
          </a:p>
          <a:p>
            <a:r>
              <a:rPr lang="ru-RU" dirty="0">
                <a:effectLst/>
              </a:rPr>
              <a:t>Может быть нестабильным (небольшие изменения данных → другое дерево).</a:t>
            </a:r>
          </a:p>
          <a:p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788A127-C29B-1185-D239-B1E7D75E9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108" y="1936900"/>
            <a:ext cx="4669209" cy="371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52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75E7BF-B1A8-0CB2-5A93-ADD016703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4925"/>
            <a:ext cx="10353762" cy="970450"/>
          </a:xfrm>
        </p:spPr>
        <p:txBody>
          <a:bodyPr/>
          <a:lstStyle/>
          <a:p>
            <a:r>
              <a:rPr lang="ru-RU" dirty="0"/>
              <a:t>Подготовка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02D31-9453-3138-3F47-C35E721A4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38203"/>
            <a:ext cx="5087473" cy="40587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 sz="2400" dirty="0"/>
              <a:t>Добавление новых </a:t>
            </a:r>
            <a:r>
              <a:rPr lang="en-US" sz="2400" dirty="0"/>
              <a:t>features</a:t>
            </a:r>
            <a:r>
              <a:rPr lang="ru-RU" sz="2400" dirty="0"/>
              <a:t> </a:t>
            </a:r>
            <a:endParaRPr lang="en-US" sz="2400" dirty="0"/>
          </a:p>
          <a:p>
            <a:endParaRPr lang="en-US" sz="2400" dirty="0"/>
          </a:p>
          <a:p>
            <a:pPr marL="36900" indent="0">
              <a:buNone/>
            </a:pPr>
            <a:endParaRPr lang="ru-RU" sz="2400" dirty="0"/>
          </a:p>
          <a:p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2CE4D-F213-5AAA-79A3-E05C41B6EAB8}"/>
              </a:ext>
            </a:extLst>
          </p:cNvPr>
          <p:cNvSpPr txBox="1"/>
          <p:nvPr/>
        </p:nvSpPr>
        <p:spPr>
          <a:xfrm>
            <a:off x="3457531" y="2657475"/>
            <a:ext cx="88487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Survived,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Pclass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Age,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SibSp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Parch, Fare,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Sex_male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Embarked_Q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Embarked_S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Title_Master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Title_Miss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Title_Mr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Title_Mrs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Title_Rev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FamilySize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FarePerPerson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IsAlone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FamilySurvivalScore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Sex_female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SocialPriority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CompositeScore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FareClassRatio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FareClassPercentile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AboveClassMedian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Archetype_AveragePassenger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Archetype_Businessman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Archetype_PoorChild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Archetype_RichChild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Archetype_WealthyMother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Archetype_WealthySingleWoman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Archetype_WorkingClassMan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dirty="0"/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2308B-7547-35AB-13CE-0FC251F202D3}"/>
              </a:ext>
            </a:extLst>
          </p:cNvPr>
          <p:cNvSpPr txBox="1"/>
          <p:nvPr/>
        </p:nvSpPr>
        <p:spPr>
          <a:xfrm>
            <a:off x="656620" y="2657475"/>
            <a:ext cx="192465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PassengerI</a:t>
            </a:r>
            <a:r>
              <a:rPr lang="ru-RU" dirty="0">
                <a:solidFill>
                  <a:srgbClr val="E3E3E3"/>
                </a:solidFill>
                <a:latin typeface="Courier New" panose="02070309020205020404" pitchFamily="49" charset="0"/>
              </a:rPr>
              <a:t>,</a:t>
            </a:r>
            <a:r>
              <a:rPr lang="en-US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 Survived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Pclass</a:t>
            </a:r>
            <a:r>
              <a:rPr lang="en-US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, Name, Sex, Age, </a:t>
            </a:r>
            <a:r>
              <a:rPr lang="en-US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SibSp</a:t>
            </a:r>
            <a:r>
              <a:rPr lang="en-US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, Parch, Ticket, Fare, Cabin, Embarked</a:t>
            </a:r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1E873011-72E4-7512-BB9B-6D45DD4C4E6F}"/>
              </a:ext>
            </a:extLst>
          </p:cNvPr>
          <p:cNvCxnSpPr>
            <a:cxnSpLocks/>
          </p:cNvCxnSpPr>
          <p:nvPr/>
        </p:nvCxnSpPr>
        <p:spPr>
          <a:xfrm>
            <a:off x="2400300" y="3247474"/>
            <a:ext cx="8762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101600">
              <a:schemeClr val="tx2">
                <a:lumMod val="50000"/>
                <a:alpha val="60000"/>
              </a:schemeClr>
            </a:glo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48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1A3C5CF-F8CA-6357-D0DD-03BC57170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325" y="0"/>
            <a:ext cx="7559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4A2C78-B98C-019B-EBA3-FCB0E8A9031B}"/>
              </a:ext>
            </a:extLst>
          </p:cNvPr>
          <p:cNvSpPr txBox="1"/>
          <p:nvPr/>
        </p:nvSpPr>
        <p:spPr>
          <a:xfrm>
            <a:off x="133092" y="2136338"/>
            <a:ext cx="3500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Корреляционная матрица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194912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473B8-1AF6-8EB2-E4DA-BF16C9CC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данных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976C023-A24A-534C-478A-F054020924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4" y="1835970"/>
            <a:ext cx="11862440" cy="441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85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4B502-D01A-F9C1-7536-9134246E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74E93-FC67-232E-0B14-61D719A75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/>
              </a:rPr>
              <a:t>Соотношение с целевой переменной + </a:t>
            </a:r>
            <a:r>
              <a:rPr lang="ru-RU" dirty="0" err="1">
                <a:effectLst/>
              </a:rPr>
              <a:t>коэфициент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пирсона</a:t>
            </a:r>
            <a:endParaRPr lang="ru-RU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DBF089A-6795-9E2D-9003-71EE2C964D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7664" y="1835970"/>
            <a:ext cx="11862440" cy="441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517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BC1B85A-E7E8-FDC0-2F37-661B955A7B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3528" y="0"/>
            <a:ext cx="855847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FEADF2-DCBE-EAA1-6297-4FBB40FE10A3}"/>
              </a:ext>
            </a:extLst>
          </p:cNvPr>
          <p:cNvSpPr txBox="1"/>
          <p:nvPr/>
        </p:nvSpPr>
        <p:spPr>
          <a:xfrm>
            <a:off x="133092" y="2136338"/>
            <a:ext cx="35004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Критерий качества разбиения.</a:t>
            </a: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 err="1">
                <a:solidFill>
                  <a:schemeClr val="tx2"/>
                </a:solidFill>
              </a:rPr>
              <a:t>gini</a:t>
            </a:r>
            <a:r>
              <a:rPr lang="ru-RU" dirty="0">
                <a:solidFill>
                  <a:schemeClr val="tx2"/>
                </a:solidFill>
              </a:rPr>
              <a:t> — индекс Джини</a:t>
            </a: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 err="1">
                <a:solidFill>
                  <a:schemeClr val="tx2"/>
                </a:solidFill>
              </a:rPr>
              <a:t>entropy</a:t>
            </a:r>
            <a:r>
              <a:rPr lang="ru-RU" dirty="0">
                <a:solidFill>
                  <a:schemeClr val="tx2"/>
                </a:solidFill>
              </a:rPr>
              <a:t> —энтропия</a:t>
            </a: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 err="1">
                <a:solidFill>
                  <a:schemeClr val="tx2"/>
                </a:solidFill>
              </a:rPr>
              <a:t>log_loss</a:t>
            </a:r>
            <a:r>
              <a:rPr lang="ru-RU" dirty="0">
                <a:solidFill>
                  <a:schemeClr val="tx2"/>
                </a:solidFill>
              </a:rPr>
              <a:t> — основан на логарифмической потере.</a:t>
            </a:r>
          </a:p>
        </p:txBody>
      </p:sp>
    </p:spTree>
    <p:extLst>
      <p:ext uri="{BB962C8B-B14F-4D97-AF65-F5344CB8AC3E}">
        <p14:creationId xmlns:p14="http://schemas.microsoft.com/office/powerpoint/2010/main" val="1676631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5E15C64-37CD-8BF7-A0F1-77AECA716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7" y="0"/>
            <a:ext cx="8558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F67BA2-CB96-A5BB-D741-1F26B69F3682}"/>
              </a:ext>
            </a:extLst>
          </p:cNvPr>
          <p:cNvSpPr txBox="1"/>
          <p:nvPr/>
        </p:nvSpPr>
        <p:spPr>
          <a:xfrm>
            <a:off x="133351" y="2136338"/>
            <a:ext cx="35004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Стратегия выбора признака для разбиения.</a:t>
            </a: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 err="1">
                <a:solidFill>
                  <a:schemeClr val="tx2"/>
                </a:solidFill>
              </a:rPr>
              <a:t>best</a:t>
            </a:r>
            <a:r>
              <a:rPr lang="ru-RU" dirty="0">
                <a:solidFill>
                  <a:schemeClr val="tx2"/>
                </a:solidFill>
              </a:rPr>
              <a:t> — выбирает наилучшее разбиение</a:t>
            </a: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 err="1">
                <a:solidFill>
                  <a:schemeClr val="tx2"/>
                </a:solidFill>
              </a:rPr>
              <a:t>random</a:t>
            </a:r>
            <a:r>
              <a:rPr lang="ru-RU" dirty="0">
                <a:solidFill>
                  <a:schemeClr val="tx2"/>
                </a:solidFill>
              </a:rPr>
              <a:t>' — выбирает случайный признак (для ускорения и разнообразия).</a:t>
            </a:r>
          </a:p>
        </p:txBody>
      </p:sp>
    </p:spTree>
    <p:extLst>
      <p:ext uri="{BB962C8B-B14F-4D97-AF65-F5344CB8AC3E}">
        <p14:creationId xmlns:p14="http://schemas.microsoft.com/office/powerpoint/2010/main" val="2071209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3855F1-7536-0E86-69C5-C1A095777D84}"/>
              </a:ext>
            </a:extLst>
          </p:cNvPr>
          <p:cNvSpPr txBox="1"/>
          <p:nvPr/>
        </p:nvSpPr>
        <p:spPr>
          <a:xfrm>
            <a:off x="133092" y="2136338"/>
            <a:ext cx="35004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Минимальное количество образцов в листе.</a:t>
            </a: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Увеличение значения делает дерево более “гладким”.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55E94F7-35CA-4A7B-F389-F1D537225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528" y="0"/>
            <a:ext cx="8558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494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E73B-5192-1C2D-C4CC-6A0BD378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475B85-ED9D-F455-5137-33B2253728EE}"/>
              </a:ext>
            </a:extLst>
          </p:cNvPr>
          <p:cNvSpPr txBox="1"/>
          <p:nvPr/>
        </p:nvSpPr>
        <p:spPr>
          <a:xfrm>
            <a:off x="133092" y="2136338"/>
            <a:ext cx="35004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2"/>
                </a:solidFill>
              </a:rPr>
              <a:t>Максимальная глубина дерева.</a:t>
            </a:r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ru-RU" dirty="0" err="1">
                <a:solidFill>
                  <a:schemeClr val="tx2"/>
                </a:solidFill>
              </a:rPr>
              <a:t>None</a:t>
            </a:r>
            <a:r>
              <a:rPr lang="ru-RU" dirty="0">
                <a:solidFill>
                  <a:schemeClr val="tx2"/>
                </a:solidFill>
              </a:rPr>
              <a:t> — без ограничения (может привести к переобучению).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C32DAE4-3FC0-1E48-52E5-5BDD7D7DD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3528" y="104"/>
            <a:ext cx="8558213" cy="685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636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9F33F85-5FAD-E3EA-6D48-F785EE982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92" y="2136338"/>
            <a:ext cx="3145520" cy="4058751"/>
          </a:xfrm>
        </p:spPr>
        <p:txBody>
          <a:bodyPr>
            <a:noAutofit/>
          </a:bodyPr>
          <a:lstStyle/>
          <a:p>
            <a:r>
              <a:rPr lang="ru-RU" sz="1800" dirty="0" err="1"/>
              <a:t>criterion</a:t>
            </a:r>
            <a:r>
              <a:rPr lang="ru-RU" sz="1800" dirty="0"/>
              <a:t>=</a:t>
            </a:r>
            <a:r>
              <a:rPr lang="ru-RU" sz="1800" dirty="0" err="1"/>
              <a:t>gini</a:t>
            </a:r>
            <a:endParaRPr lang="ru-RU" sz="1800" dirty="0"/>
          </a:p>
          <a:p>
            <a:r>
              <a:rPr lang="ru-RU" sz="1800" dirty="0" err="1"/>
              <a:t>splitter</a:t>
            </a:r>
            <a:r>
              <a:rPr lang="ru-RU" sz="1800" dirty="0"/>
              <a:t>=</a:t>
            </a:r>
            <a:r>
              <a:rPr lang="ru-RU" sz="1800" dirty="0" err="1"/>
              <a:t>best</a:t>
            </a:r>
            <a:endParaRPr lang="ru-RU" sz="1800" dirty="0"/>
          </a:p>
          <a:p>
            <a:r>
              <a:rPr lang="ru-RU" sz="1800" dirty="0" err="1"/>
              <a:t>max_depth</a:t>
            </a:r>
            <a:r>
              <a:rPr lang="ru-RU" sz="1800" dirty="0"/>
              <a:t>=</a:t>
            </a:r>
            <a:r>
              <a:rPr lang="ru-RU" sz="1800" dirty="0" err="1"/>
              <a:t>None</a:t>
            </a:r>
            <a:endParaRPr lang="ru-RU" sz="1800" dirty="0"/>
          </a:p>
          <a:p>
            <a:r>
              <a:rPr lang="ru-RU" sz="1800" dirty="0" err="1"/>
              <a:t>min_samples_split</a:t>
            </a:r>
            <a:r>
              <a:rPr lang="ru-RU" sz="1800" dirty="0"/>
              <a:t>=2</a:t>
            </a:r>
          </a:p>
          <a:p>
            <a:r>
              <a:rPr lang="ru-RU" sz="1800" dirty="0" err="1"/>
              <a:t>min_samples_leaf</a:t>
            </a:r>
            <a:r>
              <a:rPr lang="ru-RU" sz="1800" dirty="0"/>
              <a:t>=15</a:t>
            </a:r>
          </a:p>
          <a:p>
            <a:r>
              <a:rPr lang="ru-RU" sz="1800" dirty="0" err="1"/>
              <a:t>random_state</a:t>
            </a:r>
            <a:r>
              <a:rPr lang="ru-RU" sz="1800" dirty="0"/>
              <a:t>=RANDOM_STATE</a:t>
            </a:r>
          </a:p>
          <a:p>
            <a:r>
              <a:rPr lang="ru-RU" sz="1800" dirty="0" err="1"/>
              <a:t>max_features</a:t>
            </a:r>
            <a:r>
              <a:rPr lang="ru-RU" sz="1800" dirty="0"/>
              <a:t>=</a:t>
            </a:r>
            <a:r>
              <a:rPr lang="ru-RU" sz="1800" dirty="0" err="1"/>
              <a:t>None</a:t>
            </a:r>
            <a:r>
              <a:rPr lang="ru-RU" sz="1800" dirty="0"/>
              <a:t> </a:t>
            </a:r>
          </a:p>
          <a:p>
            <a:r>
              <a:rPr lang="ru-RU" sz="1800" dirty="0" err="1"/>
              <a:t>class_weight</a:t>
            </a:r>
            <a:r>
              <a:rPr lang="ru-RU" sz="1800" dirty="0"/>
              <a:t>=</a:t>
            </a:r>
            <a:r>
              <a:rPr lang="ru-RU" sz="1800" dirty="0" err="1"/>
              <a:t>None</a:t>
            </a:r>
            <a:endParaRPr lang="ru-RU" sz="18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F574D8B-0B5D-B895-3FDC-9A3A495CC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0"/>
            <a:ext cx="8562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0397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D2254070-1A56-8D31-0774-7CFB3889D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7" y="0"/>
            <a:ext cx="103727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395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112</TotalTime>
  <Words>299</Words>
  <Application>Microsoft Office PowerPoint</Application>
  <PresentationFormat>Широкоэкранный</PresentationFormat>
  <Paragraphs>44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Calisto MT</vt:lpstr>
      <vt:lpstr>Courier New</vt:lpstr>
      <vt:lpstr>Wingdings 2</vt:lpstr>
      <vt:lpstr>Сланец</vt:lpstr>
      <vt:lpstr>Decision Tree Classifier (Дерево решений)</vt:lpstr>
      <vt:lpstr>Дерево решений</vt:lpstr>
      <vt:lpstr>Подготовка </vt:lpstr>
      <vt:lpstr>Презентация PowerPoint</vt:lpstr>
      <vt:lpstr>Распределение данных</vt:lpstr>
      <vt:lpstr>Соотношение с целевой переменной + коэфициент пирсона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J</dc:creator>
  <cp:lastModifiedBy>D J</cp:lastModifiedBy>
  <cp:revision>1</cp:revision>
  <dcterms:created xsi:type="dcterms:W3CDTF">2025-11-06T11:59:31Z</dcterms:created>
  <dcterms:modified xsi:type="dcterms:W3CDTF">2025-11-06T13:51:47Z</dcterms:modified>
</cp:coreProperties>
</file>